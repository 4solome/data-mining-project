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embeddedFontLst>
    <p:embeddedFont>
      <p:font typeface="Roboto Bold" charset="1" panose="02000000000000000000"/>
      <p:regular r:id="rId18"/>
    </p:embeddedFont>
    <p:embeddedFont>
      <p:font typeface="Open Sans" charset="1" panose="0000000000000000000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notesMasters/notesMaster1.xml" Type="http://schemas.openxmlformats.org/officeDocument/2006/relationships/notesMaster"/><Relationship Id="rId16" Target="theme/theme2.xml" Type="http://schemas.openxmlformats.org/officeDocument/2006/relationships/theme"/><Relationship Id="rId17" Target="notesSlides/notesSlide1.xml" Type="http://schemas.openxmlformats.org/officeDocument/2006/relationships/notes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notesSlides/notesSlide2.xml" Type="http://schemas.openxmlformats.org/officeDocument/2006/relationships/notesSlide"/><Relationship Id="rId21" Target="notesSlides/notesSlide3.xml" Type="http://schemas.openxmlformats.org/officeDocument/2006/relationships/notesSlide"/><Relationship Id="rId22" Target="notesSlides/notesSlide4.xml" Type="http://schemas.openxmlformats.org/officeDocument/2006/relationships/notesSlide"/><Relationship Id="rId23" Target="notesSlides/notesSlide5.xml" Type="http://schemas.openxmlformats.org/officeDocument/2006/relationships/notesSlide"/><Relationship Id="rId24" Target="notesSlides/notesSlide6.xml" Type="http://schemas.openxmlformats.org/officeDocument/2006/relationships/notesSlide"/><Relationship Id="rId25" Target="notesSlides/notesSlide7.xml" Type="http://schemas.openxmlformats.org/officeDocument/2006/relationships/notesSlide"/><Relationship Id="rId26" Target="notesSlides/notesSlide8.xml" Type="http://schemas.openxmlformats.org/officeDocument/2006/relationships/notesSlide"/><Relationship Id="rId27" Target="notesSlides/notesSlide9.xml" Type="http://schemas.openxmlformats.org/officeDocument/2006/relationships/notesSlide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.jpeg" Type="http://schemas.openxmlformats.org/officeDocument/2006/relationships/image"/><Relationship Id="rId4" Target="../media/image2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.jpe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.jpeg" Type="http://schemas.openxmlformats.org/officeDocument/2006/relationships/image"/><Relationship Id="rId4" Target="../media/image5.png" Type="http://schemas.openxmlformats.org/officeDocument/2006/relationships/image"/><Relationship Id="rId5" Target="../media/image6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1.jpeg" Type="http://schemas.openxmlformats.org/officeDocument/2006/relationships/image"/><Relationship Id="rId4" Target="../media/image7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1.jpeg" Type="http://schemas.openxmlformats.org/officeDocument/2006/relationships/image"/><Relationship Id="rId4" Target="../media/image8.png" Type="http://schemas.openxmlformats.org/officeDocument/2006/relationships/image"/><Relationship Id="rId5" Target="../media/image9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69824" y="463927"/>
            <a:ext cx="16459200" cy="3961408"/>
            <a:chOff x="0" y="0"/>
            <a:chExt cx="21945600" cy="528187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5281877"/>
            </a:xfrm>
            <a:custGeom>
              <a:avLst/>
              <a:gdLst/>
              <a:ahLst/>
              <a:cxnLst/>
              <a:rect r="r" b="b" t="t" l="l"/>
              <a:pathLst>
                <a:path h="5281877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5281877"/>
                  </a:lnTo>
                  <a:lnTo>
                    <a:pt x="0" y="528187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258" r="0" b="-8657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1945600" cy="52914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600"/>
                </a:lnSpc>
              </a:pPr>
              <a:r>
                <a:rPr lang="en-US" b="true" sz="8000">
                  <a:solidFill>
                    <a:srgbClr val="31404B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MapReduce Analysis of Amazon Reviews using mrjob </a:t>
              </a:r>
            </a:p>
            <a:p>
              <a:pPr algn="ctr">
                <a:lnSpc>
                  <a:spcPts val="9600"/>
                </a:lnSpc>
              </a:pPr>
            </a:p>
          </p:txBody>
        </p:sp>
      </p:grpSp>
      <p:graphicFrame>
        <p:nvGraphicFramePr>
          <p:cNvPr name="Table 5" id="5"/>
          <p:cNvGraphicFramePr>
            <a:graphicFrameLocks noGrp="true"/>
          </p:cNvGraphicFramePr>
          <p:nvPr/>
        </p:nvGraphicFramePr>
        <p:xfrm>
          <a:off x="2425794" y="4820988"/>
          <a:ext cx="12090400" cy="4673600"/>
        </p:xfrm>
        <a:graphic>
          <a:graphicData uri="http://schemas.openxmlformats.org/drawingml/2006/table">
            <a:tbl>
              <a:tblPr/>
              <a:tblGrid>
                <a:gridCol w="951869"/>
                <a:gridCol w="5226928"/>
                <a:gridCol w="5911602"/>
              </a:tblGrid>
              <a:tr h="11684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1404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4320"/>
                        </a:lnSpc>
                        <a:defRPr/>
                      </a:pPr>
                      <a:r>
                        <a:rPr lang="en-US" sz="3600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NAME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1404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4320"/>
                        </a:lnSpc>
                        <a:defRPr/>
                      </a:pPr>
                      <a:r>
                        <a:rPr lang="en-US" sz="3600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REGISTRATION NUMBER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1404B"/>
                    </a:solidFill>
                  </a:tcPr>
                </a:tc>
              </a:tr>
              <a:tr h="11684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4320"/>
                        </a:lnSpc>
                        <a:defRPr/>
                      </a:pPr>
                      <a:r>
                        <a:rPr lang="en-US" sz="3600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1.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1404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4320"/>
                        </a:lnSpc>
                        <a:defRPr/>
                      </a:pPr>
                      <a:r>
                        <a:rPr lang="en-US" sz="3600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NASSALI VICTOR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1404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4320"/>
                        </a:lnSpc>
                        <a:defRPr/>
                      </a:pPr>
                      <a:r>
                        <a:rPr lang="en-US" sz="3600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2025/HD05/26362U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1404B"/>
                    </a:solidFill>
                  </a:tcPr>
                </a:tc>
              </a:tr>
              <a:tr h="11684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4320"/>
                        </a:lnSpc>
                        <a:defRPr/>
                      </a:pPr>
                      <a:r>
                        <a:rPr lang="en-US" sz="3600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1404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4320"/>
                        </a:lnSpc>
                        <a:defRPr/>
                      </a:pPr>
                      <a:r>
                        <a:rPr lang="en-US" sz="3600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NAKAZZI SOLOME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1404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4320"/>
                        </a:lnSpc>
                        <a:defRPr/>
                      </a:pPr>
                      <a:r>
                        <a:rPr lang="en-US" sz="3600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2025/HD05/26358U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1404B"/>
                    </a:solidFill>
                  </a:tcPr>
                </a:tc>
              </a:tr>
              <a:tr h="11684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4320"/>
                        </a:lnSpc>
                        <a:defRPr/>
                      </a:pPr>
                      <a:r>
                        <a:rPr lang="en-US" sz="3600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3.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1404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4320"/>
                        </a:lnSpc>
                        <a:defRPr/>
                      </a:pPr>
                      <a:r>
                        <a:rPr lang="en-US" sz="3600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SSENONO HENRY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1404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4320"/>
                        </a:lnSpc>
                        <a:defRPr/>
                      </a:pPr>
                      <a:r>
                        <a:rPr lang="en-US" sz="3600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2025/HD05/26373U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1404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463040"/>
            <a:chOff x="0" y="0"/>
            <a:chExt cx="24384000" cy="19507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950720"/>
            </a:xfrm>
            <a:custGeom>
              <a:avLst/>
              <a:gdLst/>
              <a:ahLst/>
              <a:cxnLst/>
              <a:rect r="r" b="b" t="t" l="l"/>
              <a:pathLst>
                <a:path h="195072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950720"/>
                  </a:lnTo>
                  <a:lnTo>
                    <a:pt x="0" y="1950720"/>
                  </a:lnTo>
                  <a:close/>
                </a:path>
              </a:pathLst>
            </a:custGeom>
            <a:solidFill>
              <a:srgbClr val="31404B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274320"/>
            <a:ext cx="16459200" cy="1237456"/>
            <a:chOff x="0" y="0"/>
            <a:chExt cx="21945600" cy="164994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1649942"/>
            </a:xfrm>
            <a:custGeom>
              <a:avLst/>
              <a:gdLst/>
              <a:ahLst/>
              <a:cxnLst/>
              <a:rect r="r" b="b" t="t" l="l"/>
              <a:pathLst>
                <a:path h="1649942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649942"/>
                  </a:lnTo>
                  <a:lnTo>
                    <a:pt x="0" y="164994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2220" r="0" b="-196114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9525"/>
              <a:ext cx="21945600" cy="165946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680"/>
                </a:lnSpc>
              </a:pPr>
              <a:r>
                <a:rPr lang="en-US" b="true" sz="6400">
                  <a:solidFill>
                    <a:srgbClr val="FFFFFF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INTRODUCTION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863232" y="2777985"/>
            <a:ext cx="16284712" cy="5743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163702" indent="-581851" lvl="1">
              <a:lnSpc>
                <a:spcPts val="6468"/>
              </a:lnSpc>
              <a:buFont typeface="Arial"/>
              <a:buChar char="•"/>
            </a:pPr>
            <a:r>
              <a:rPr lang="en-US" b="true" sz="5390">
                <a:solidFill>
                  <a:srgbClr val="31404B"/>
                </a:solidFill>
                <a:latin typeface="Roboto Bold"/>
                <a:ea typeface="Roboto Bold"/>
                <a:cs typeface="Roboto Bold"/>
                <a:sym typeface="Roboto Bold"/>
              </a:rPr>
              <a:t>Big data requires efficient processing techniques </a:t>
            </a:r>
          </a:p>
          <a:p>
            <a:pPr algn="l" marL="1163702" indent="-581851" lvl="1">
              <a:lnSpc>
                <a:spcPts val="6468"/>
              </a:lnSpc>
              <a:buFont typeface="Arial"/>
              <a:buChar char="•"/>
            </a:pPr>
            <a:r>
              <a:rPr lang="en-US" b="true" sz="5390">
                <a:solidFill>
                  <a:srgbClr val="31404B"/>
                </a:solidFill>
                <a:latin typeface="Roboto Bold"/>
                <a:ea typeface="Roboto Bold"/>
                <a:cs typeface="Roboto Bold"/>
                <a:sym typeface="Roboto Bold"/>
              </a:rPr>
              <a:t>Traditional methods cannot handle large datasets effectively </a:t>
            </a:r>
          </a:p>
          <a:p>
            <a:pPr algn="l" marL="1163702" indent="-581851" lvl="1">
              <a:lnSpc>
                <a:spcPts val="6468"/>
              </a:lnSpc>
              <a:buFont typeface="Arial"/>
              <a:buChar char="•"/>
            </a:pPr>
            <a:r>
              <a:rPr lang="en-US" b="true" sz="5390">
                <a:solidFill>
                  <a:srgbClr val="31404B"/>
                </a:solidFill>
                <a:latin typeface="Roboto Bold"/>
                <a:ea typeface="Roboto Bold"/>
                <a:cs typeface="Roboto Bold"/>
                <a:sym typeface="Roboto Bold"/>
              </a:rPr>
              <a:t>MapReduce solves this using distributed processing </a:t>
            </a:r>
          </a:p>
          <a:p>
            <a:pPr algn="l" marL="1163702" indent="-581851" lvl="1">
              <a:lnSpc>
                <a:spcPts val="6468"/>
              </a:lnSpc>
              <a:buFont typeface="Arial"/>
              <a:buChar char="•"/>
            </a:pPr>
            <a:r>
              <a:rPr lang="en-US" b="true" sz="5390">
                <a:solidFill>
                  <a:srgbClr val="31404B"/>
                </a:solidFill>
                <a:latin typeface="Roboto Bold"/>
                <a:ea typeface="Roboto Bold"/>
                <a:cs typeface="Roboto Bold"/>
                <a:sym typeface="Roboto Bold"/>
              </a:rPr>
              <a:t>Python simplifies MapReduce implementation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140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47625"/>
            <a:chOff x="0" y="0"/>
            <a:chExt cx="24384000" cy="635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63500"/>
            </a:xfrm>
            <a:custGeom>
              <a:avLst/>
              <a:gdLst/>
              <a:ahLst/>
              <a:cxnLst/>
              <a:rect r="r" b="b" t="t" l="l"/>
              <a:pathLst>
                <a:path h="635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63500"/>
                  </a:lnTo>
                  <a:lnTo>
                    <a:pt x="0" y="635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4423926" y="-561578"/>
            <a:ext cx="10431589" cy="3180556"/>
            <a:chOff x="0" y="0"/>
            <a:chExt cx="13908785" cy="424074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3908785" cy="4240742"/>
            </a:xfrm>
            <a:custGeom>
              <a:avLst/>
              <a:gdLst/>
              <a:ahLst/>
              <a:cxnLst/>
              <a:rect r="r" b="b" t="t" l="l"/>
              <a:pathLst>
                <a:path h="4240742" w="13908785">
                  <a:moveTo>
                    <a:pt x="0" y="0"/>
                  </a:moveTo>
                  <a:lnTo>
                    <a:pt x="13908785" y="0"/>
                  </a:lnTo>
                  <a:lnTo>
                    <a:pt x="13908785" y="4240742"/>
                  </a:lnTo>
                  <a:lnTo>
                    <a:pt x="0" y="424074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6459" r="-57782" b="-15208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9525"/>
              <a:ext cx="13908785" cy="425026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680"/>
                </a:lnSpc>
              </a:pPr>
            </a:p>
            <a:p>
              <a:pPr algn="l">
                <a:lnSpc>
                  <a:spcPts val="7680"/>
                </a:lnSpc>
              </a:pPr>
              <a:r>
                <a:rPr lang="en-US" b="true" sz="6400">
                  <a:solidFill>
                    <a:srgbClr val="FFFFFF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ABOUT THE PROJECT</a:t>
              </a:r>
            </a:p>
            <a:p>
              <a:pPr algn="l">
                <a:lnSpc>
                  <a:spcPts val="7680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554480" y="2230755"/>
            <a:ext cx="7381351" cy="5981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b="true" sz="3600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Dataset</a:t>
            </a:r>
          </a:p>
          <a:p>
            <a:pPr algn="l">
              <a:lnSpc>
                <a:spcPts val="4320"/>
              </a:lnSpc>
            </a:pPr>
            <a:r>
              <a:rPr lang="en-US" sz="36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Amazon Software Reviews 2023 (JSONL) sourced from McAuley Lab, UCSD</a:t>
            </a:r>
          </a:p>
          <a:p>
            <a:pPr algn="l">
              <a:lnSpc>
                <a:spcPts val="4320"/>
              </a:lnSpc>
            </a:pPr>
          </a:p>
          <a:p>
            <a:pPr algn="l">
              <a:lnSpc>
                <a:spcPts val="4320"/>
              </a:lnSpc>
            </a:pPr>
            <a:r>
              <a:rPr lang="en-US" b="true" sz="3600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Dataset Size: 4,880,181 raw reviews,  4,829,124 after cleaning </a:t>
            </a:r>
          </a:p>
          <a:p>
            <a:pPr algn="l">
              <a:lnSpc>
                <a:spcPts val="4320"/>
              </a:lnSpc>
            </a:pPr>
          </a:p>
          <a:p>
            <a:pPr algn="l">
              <a:lnSpc>
                <a:spcPts val="4320"/>
              </a:lnSpc>
            </a:pPr>
            <a:r>
              <a:rPr lang="en-US" b="true" sz="3600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Fields: rating, title, text, asin, parent_asin, user_id, timestamp, helpful_vote, verified_purchase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352178" y="1783080"/>
            <a:ext cx="8461762" cy="6858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Preprocessing: </a:t>
            </a:r>
          </a:p>
          <a:p>
            <a:pPr algn="l" marL="723900" indent="-361950" lvl="1">
              <a:lnSpc>
                <a:spcPts val="36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Dropped images column, </a:t>
            </a:r>
          </a:p>
          <a:p>
            <a:pPr algn="l" marL="723900" indent="-361950" lvl="1">
              <a:lnSpc>
                <a:spcPts val="36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removed 51,057 duplicates, </a:t>
            </a:r>
          </a:p>
          <a:p>
            <a:pPr algn="l" marL="723900" indent="-361950" lvl="1">
              <a:lnSpc>
                <a:spcPts val="36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standardized text, </a:t>
            </a:r>
          </a:p>
          <a:p>
            <a:pPr algn="l" marL="723900" indent="-361950" lvl="1">
              <a:lnSpc>
                <a:spcPts val="36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engineered review_length feature, </a:t>
            </a:r>
          </a:p>
          <a:p>
            <a:pPr algn="l" marL="723900" indent="-361950" lvl="1">
              <a:lnSpc>
                <a:spcPts val="36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capped helpful_vote outliers at 99th percentile (74 votes)</a:t>
            </a:r>
          </a:p>
          <a:p>
            <a:pPr algn="l" marL="723900" indent="-361950" lvl="1">
              <a:lnSpc>
                <a:spcPts val="3600"/>
              </a:lnSpc>
            </a:pPr>
          </a:p>
          <a:p>
            <a:pPr algn="l" marL="647700" indent="-323850" lvl="1">
              <a:lnSpc>
                <a:spcPts val="36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Approach: Load → Clean → Feature Engineering → 5 MapReduce Jobs (mrjob, Python)</a:t>
            </a:r>
          </a:p>
          <a:p>
            <a:pPr algn="l" marL="647700" indent="-323850" lvl="1">
              <a:lnSpc>
                <a:spcPts val="36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Tool: Python mrjob library </a:t>
            </a:r>
          </a:p>
          <a:p>
            <a:pPr algn="l" marL="647700" indent="-323850" lvl="1">
              <a:lnSpc>
                <a:spcPts val="36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Goal: Extract meaningful insights from reviews</a:t>
            </a:r>
          </a:p>
          <a:p>
            <a:pPr algn="l" marL="723900" indent="-361950" lvl="1">
              <a:lnSpc>
                <a:spcPts val="3600"/>
              </a:lnSpc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463040"/>
            <a:chOff x="0" y="0"/>
            <a:chExt cx="24384000" cy="19507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950720"/>
            </a:xfrm>
            <a:custGeom>
              <a:avLst/>
              <a:gdLst/>
              <a:ahLst/>
              <a:cxnLst/>
              <a:rect r="r" b="b" t="t" l="l"/>
              <a:pathLst>
                <a:path h="195072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950720"/>
                  </a:lnTo>
                  <a:lnTo>
                    <a:pt x="0" y="1950720"/>
                  </a:lnTo>
                  <a:close/>
                </a:path>
              </a:pathLst>
            </a:custGeom>
            <a:solidFill>
              <a:srgbClr val="31404B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274320"/>
            <a:ext cx="16459200" cy="1237456"/>
            <a:chOff x="0" y="0"/>
            <a:chExt cx="21945600" cy="164994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1649942"/>
            </a:xfrm>
            <a:custGeom>
              <a:avLst/>
              <a:gdLst/>
              <a:ahLst/>
              <a:cxnLst/>
              <a:rect r="r" b="b" t="t" l="l"/>
              <a:pathLst>
                <a:path h="1649942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649942"/>
                  </a:lnTo>
                  <a:lnTo>
                    <a:pt x="0" y="164994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2220" r="0" b="-196114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9525"/>
              <a:ext cx="21945600" cy="165946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680"/>
                </a:lnSpc>
              </a:pPr>
              <a:r>
                <a:rPr lang="en-US" b="true" sz="6400">
                  <a:solidFill>
                    <a:srgbClr val="FFFFFF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REVIEW COUNT PER PRODUCT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997448" y="2230755"/>
            <a:ext cx="9754751" cy="26626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25"/>
              </a:lnSpc>
            </a:pPr>
            <a:r>
              <a:rPr lang="en-US" b="true" sz="3354">
                <a:solidFill>
                  <a:srgbClr val="31404B"/>
                </a:solidFill>
                <a:latin typeface="Roboto Bold"/>
                <a:ea typeface="Roboto Bold"/>
                <a:cs typeface="Roboto Bold"/>
                <a:sym typeface="Roboto Bold"/>
              </a:rPr>
              <a:t>Solution</a:t>
            </a:r>
          </a:p>
          <a:p>
            <a:pPr algn="l">
              <a:lnSpc>
                <a:spcPts val="4600"/>
              </a:lnSpc>
            </a:pPr>
            <a:r>
              <a:rPr lang="en-US" b="true" sz="3833">
                <a:solidFill>
                  <a:srgbClr val="31404B"/>
                </a:solidFill>
                <a:latin typeface="Roboto Bold"/>
                <a:ea typeface="Roboto Bold"/>
                <a:cs typeface="Roboto Bold"/>
                <a:sym typeface="Roboto Bold"/>
              </a:rPr>
              <a:t>Mapper: extracts ASIN and emits (asin, 1) </a:t>
            </a:r>
          </a:p>
          <a:p>
            <a:pPr algn="l">
              <a:lnSpc>
                <a:spcPts val="4600"/>
              </a:lnSpc>
            </a:pPr>
          </a:p>
          <a:p>
            <a:pPr algn="l">
              <a:lnSpc>
                <a:spcPts val="4600"/>
              </a:lnSpc>
            </a:pPr>
            <a:r>
              <a:rPr lang="en-US" b="true" sz="3833">
                <a:solidFill>
                  <a:srgbClr val="31404B"/>
                </a:solidFill>
                <a:latin typeface="Roboto Bold"/>
                <a:ea typeface="Roboto Bold"/>
                <a:cs typeface="Roboto Bold"/>
                <a:sym typeface="Roboto Bold"/>
              </a:rPr>
              <a:t>Reducer: sums all reviews per product</a:t>
            </a:r>
          </a:p>
          <a:p>
            <a:pPr algn="l">
              <a:lnSpc>
                <a:spcPts val="3162"/>
              </a:lnSpc>
            </a:pPr>
            <a:r>
              <a:rPr lang="en-US" sz="2635">
                <a:solidFill>
                  <a:srgbClr val="31404B"/>
                </a:solidFill>
                <a:latin typeface="Open Sans"/>
                <a:ea typeface="Open Sans"/>
                <a:cs typeface="Open Sans"/>
                <a:sym typeface="Open Sans"/>
              </a:rPr>
              <a:t>          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0463136" y="3647723"/>
            <a:ext cx="6496050" cy="5010150"/>
            <a:chOff x="0" y="0"/>
            <a:chExt cx="8661400" cy="66802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661400" cy="6680200"/>
            </a:xfrm>
            <a:custGeom>
              <a:avLst/>
              <a:gdLst/>
              <a:ahLst/>
              <a:cxnLst/>
              <a:rect r="r" b="b" t="t" l="l"/>
              <a:pathLst>
                <a:path h="6680200" w="8661400">
                  <a:moveTo>
                    <a:pt x="0" y="0"/>
                  </a:moveTo>
                  <a:lnTo>
                    <a:pt x="8661400" y="0"/>
                  </a:lnTo>
                  <a:lnTo>
                    <a:pt x="8661400" y="6680200"/>
                  </a:lnTo>
                  <a:lnTo>
                    <a:pt x="0" y="6680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463040"/>
            <a:chOff x="0" y="0"/>
            <a:chExt cx="24384000" cy="19507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950720"/>
            </a:xfrm>
            <a:custGeom>
              <a:avLst/>
              <a:gdLst/>
              <a:ahLst/>
              <a:cxnLst/>
              <a:rect r="r" b="b" t="t" l="l"/>
              <a:pathLst>
                <a:path h="195072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950720"/>
                  </a:lnTo>
                  <a:lnTo>
                    <a:pt x="0" y="1950720"/>
                  </a:lnTo>
                  <a:close/>
                </a:path>
              </a:pathLst>
            </a:custGeom>
            <a:solidFill>
              <a:srgbClr val="31404B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274320"/>
            <a:ext cx="16459200" cy="1237456"/>
            <a:chOff x="0" y="0"/>
            <a:chExt cx="21945600" cy="164994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1649942"/>
            </a:xfrm>
            <a:custGeom>
              <a:avLst/>
              <a:gdLst/>
              <a:ahLst/>
              <a:cxnLst/>
              <a:rect r="r" b="b" t="t" l="l"/>
              <a:pathLst>
                <a:path h="1649942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649942"/>
                  </a:lnTo>
                  <a:lnTo>
                    <a:pt x="0" y="164994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2220" r="0" b="-196114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9525"/>
              <a:ext cx="21945600" cy="165946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680"/>
                </a:lnSpc>
              </a:pPr>
              <a:r>
                <a:rPr lang="en-US" b="true" sz="6400">
                  <a:solidFill>
                    <a:srgbClr val="FFFFFF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AVERAGE STAR RATING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914400" y="1743075"/>
            <a:ext cx="8579289" cy="35823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40"/>
              </a:lnSpc>
            </a:pPr>
            <a:r>
              <a:rPr lang="en-US" b="true" sz="2950">
                <a:solidFill>
                  <a:srgbClr val="31404B"/>
                </a:solidFill>
                <a:latin typeface="Roboto Bold"/>
                <a:ea typeface="Roboto Bold"/>
                <a:cs typeface="Roboto Bold"/>
                <a:sym typeface="Roboto Bold"/>
              </a:rPr>
              <a:t>Solution</a:t>
            </a:r>
          </a:p>
          <a:p>
            <a:pPr algn="l">
              <a:lnSpc>
                <a:spcPts val="3540"/>
              </a:lnSpc>
            </a:pPr>
            <a:r>
              <a:rPr lang="en-US" sz="2950">
                <a:solidFill>
                  <a:srgbClr val="31404B"/>
                </a:solidFill>
                <a:latin typeface="Open Sans"/>
                <a:ea typeface="Open Sans"/>
                <a:cs typeface="Open Sans"/>
                <a:sym typeface="Open Sans"/>
              </a:rPr>
              <a:t>Mapper emits (asin, rating) </a:t>
            </a:r>
          </a:p>
          <a:p>
            <a:pPr algn="l">
              <a:lnSpc>
                <a:spcPts val="3540"/>
              </a:lnSpc>
            </a:pPr>
          </a:p>
          <a:p>
            <a:pPr algn="l">
              <a:lnSpc>
                <a:spcPts val="3540"/>
              </a:lnSpc>
            </a:pPr>
            <a:r>
              <a:rPr lang="en-US" sz="2950">
                <a:solidFill>
                  <a:srgbClr val="31404B"/>
                </a:solidFill>
                <a:latin typeface="Open Sans"/>
                <a:ea typeface="Open Sans"/>
                <a:cs typeface="Open Sans"/>
                <a:sym typeface="Open Sans"/>
              </a:rPr>
              <a:t>Reducer computes average rating           </a:t>
            </a:r>
          </a:p>
          <a:p>
            <a:pPr algn="l">
              <a:lnSpc>
                <a:spcPts val="3540"/>
              </a:lnSpc>
            </a:pPr>
            <a:r>
              <a:rPr lang="en-US" b="true" sz="2950">
                <a:solidFill>
                  <a:srgbClr val="31404B"/>
                </a:solidFill>
                <a:latin typeface="Roboto Bold"/>
                <a:ea typeface="Roboto Bold"/>
                <a:cs typeface="Roboto Bold"/>
                <a:sym typeface="Roboto Bold"/>
              </a:rPr>
              <a:t>                     </a:t>
            </a:r>
          </a:p>
          <a:p>
            <a:pPr algn="l">
              <a:lnSpc>
                <a:spcPts val="3540"/>
              </a:lnSpc>
            </a:pPr>
            <a:r>
              <a:rPr lang="en-US" b="true" sz="2950">
                <a:solidFill>
                  <a:srgbClr val="31404B"/>
                </a:solidFill>
                <a:latin typeface="Roboto Bold"/>
                <a:ea typeface="Roboto Bold"/>
                <a:cs typeface="Roboto Bold"/>
                <a:sym typeface="Roboto Bold"/>
              </a:rPr>
              <a:t>              </a:t>
            </a:r>
          </a:p>
          <a:p>
            <a:pPr algn="l">
              <a:lnSpc>
                <a:spcPts val="3540"/>
              </a:lnSpc>
            </a:pPr>
          </a:p>
          <a:p>
            <a:pPr algn="l">
              <a:lnSpc>
                <a:spcPts val="3540"/>
              </a:lnSpc>
            </a:pPr>
            <a:r>
              <a:rPr lang="en-US" b="true" sz="2950">
                <a:solidFill>
                  <a:srgbClr val="31404B"/>
                </a:solidFill>
                <a:latin typeface="Roboto Bold"/>
                <a:ea typeface="Roboto Bold"/>
                <a:cs typeface="Roboto Bold"/>
                <a:sym typeface="Roboto Bold"/>
              </a:rPr>
              <a:t>        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9983871" y="1752600"/>
            <a:ext cx="8304129" cy="4659275"/>
            <a:chOff x="0" y="0"/>
            <a:chExt cx="12035409" cy="675281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2035409" cy="6752844"/>
            </a:xfrm>
            <a:custGeom>
              <a:avLst/>
              <a:gdLst/>
              <a:ahLst/>
              <a:cxnLst/>
              <a:rect r="r" b="b" t="t" l="l"/>
              <a:pathLst>
                <a:path h="6752844" w="12035409">
                  <a:moveTo>
                    <a:pt x="0" y="0"/>
                  </a:moveTo>
                  <a:lnTo>
                    <a:pt x="12035409" y="0"/>
                  </a:lnTo>
                  <a:lnTo>
                    <a:pt x="12035409" y="6752844"/>
                  </a:lnTo>
                  <a:lnTo>
                    <a:pt x="0" y="67528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3773" t="3082" r="-50042" b="3082"/>
              </a:stretch>
            </a:blipFill>
          </p:spPr>
        </p:sp>
      </p:grpSp>
      <p:sp>
        <p:nvSpPr>
          <p:cNvPr name="Freeform 10" id="10"/>
          <p:cNvSpPr/>
          <p:nvPr/>
        </p:nvSpPr>
        <p:spPr>
          <a:xfrm flipH="false" flipV="false" rot="0">
            <a:off x="603558" y="3673973"/>
            <a:ext cx="9200973" cy="5750608"/>
          </a:xfrm>
          <a:custGeom>
            <a:avLst/>
            <a:gdLst/>
            <a:ahLst/>
            <a:cxnLst/>
            <a:rect r="r" b="b" t="t" l="l"/>
            <a:pathLst>
              <a:path h="5750608" w="9200973">
                <a:moveTo>
                  <a:pt x="0" y="0"/>
                </a:moveTo>
                <a:lnTo>
                  <a:pt x="9200973" y="0"/>
                </a:lnTo>
                <a:lnTo>
                  <a:pt x="9200973" y="5750608"/>
                </a:lnTo>
                <a:lnTo>
                  <a:pt x="0" y="575060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463040"/>
            <a:chOff x="0" y="0"/>
            <a:chExt cx="24384000" cy="19507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950720"/>
            </a:xfrm>
            <a:custGeom>
              <a:avLst/>
              <a:gdLst/>
              <a:ahLst/>
              <a:cxnLst/>
              <a:rect r="r" b="b" t="t" l="l"/>
              <a:pathLst>
                <a:path h="195072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950720"/>
                  </a:lnTo>
                  <a:lnTo>
                    <a:pt x="0" y="1950720"/>
                  </a:lnTo>
                  <a:close/>
                </a:path>
              </a:pathLst>
            </a:custGeom>
            <a:solidFill>
              <a:srgbClr val="31404B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274320"/>
            <a:ext cx="16459200" cy="1237456"/>
            <a:chOff x="0" y="0"/>
            <a:chExt cx="21945600" cy="164994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1649942"/>
            </a:xfrm>
            <a:custGeom>
              <a:avLst/>
              <a:gdLst/>
              <a:ahLst/>
              <a:cxnLst/>
              <a:rect r="r" b="b" t="t" l="l"/>
              <a:pathLst>
                <a:path h="1649942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649942"/>
                  </a:lnTo>
                  <a:lnTo>
                    <a:pt x="0" y="164994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2220" r="0" b="-196114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9525"/>
              <a:ext cx="21945600" cy="165946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680"/>
                </a:lnSpc>
              </a:pPr>
              <a:r>
                <a:rPr lang="en-US" b="true" sz="6400">
                  <a:solidFill>
                    <a:srgbClr val="FFFFFF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TOP 10 MOST REVIEWED PRODUCTS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2744450" y="1463040"/>
            <a:ext cx="5543550" cy="5124450"/>
            <a:chOff x="0" y="0"/>
            <a:chExt cx="7391400" cy="68326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7391400" cy="6832600"/>
            </a:xfrm>
            <a:custGeom>
              <a:avLst/>
              <a:gdLst/>
              <a:ahLst/>
              <a:cxnLst/>
              <a:rect r="r" b="b" t="t" l="l"/>
              <a:pathLst>
                <a:path h="6832600" w="7391400">
                  <a:moveTo>
                    <a:pt x="0" y="0"/>
                  </a:moveTo>
                  <a:lnTo>
                    <a:pt x="7391400" y="0"/>
                  </a:lnTo>
                  <a:lnTo>
                    <a:pt x="7391400" y="6832600"/>
                  </a:lnTo>
                  <a:lnTo>
                    <a:pt x="0" y="6832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Freeform 9" id="9"/>
          <p:cNvSpPr/>
          <p:nvPr/>
        </p:nvSpPr>
        <p:spPr>
          <a:xfrm flipH="false" flipV="false" rot="0">
            <a:off x="487284" y="4025265"/>
            <a:ext cx="11301259" cy="5865350"/>
          </a:xfrm>
          <a:custGeom>
            <a:avLst/>
            <a:gdLst/>
            <a:ahLst/>
            <a:cxnLst/>
            <a:rect r="r" b="b" t="t" l="l"/>
            <a:pathLst>
              <a:path h="5865350" w="11301259">
                <a:moveTo>
                  <a:pt x="0" y="0"/>
                </a:moveTo>
                <a:lnTo>
                  <a:pt x="11301259" y="0"/>
                </a:lnTo>
                <a:lnTo>
                  <a:pt x="11301259" y="5865350"/>
                </a:lnTo>
                <a:lnTo>
                  <a:pt x="0" y="586535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899" t="0" r="-1899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028700" y="1746134"/>
            <a:ext cx="10877177" cy="33973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8"/>
              </a:lnSpc>
            </a:pPr>
            <a:r>
              <a:rPr lang="en-US" b="true" sz="3740">
                <a:solidFill>
                  <a:srgbClr val="31404B"/>
                </a:solidFill>
                <a:latin typeface="Roboto Bold"/>
                <a:ea typeface="Roboto Bold"/>
                <a:cs typeface="Roboto Bold"/>
                <a:sym typeface="Roboto Bold"/>
              </a:rPr>
              <a:t>Solution</a:t>
            </a:r>
          </a:p>
          <a:p>
            <a:pPr algn="l">
              <a:lnSpc>
                <a:spcPts val="4488"/>
              </a:lnSpc>
            </a:pPr>
            <a:r>
              <a:rPr lang="en-US" sz="3740">
                <a:solidFill>
                  <a:srgbClr val="31404B"/>
                </a:solidFill>
                <a:latin typeface="Open Sans"/>
                <a:ea typeface="Open Sans"/>
                <a:cs typeface="Open Sans"/>
                <a:sym typeface="Open Sans"/>
              </a:rPr>
              <a:t>Step 1: count reviews per product</a:t>
            </a:r>
          </a:p>
          <a:p>
            <a:pPr algn="l">
              <a:lnSpc>
                <a:spcPts val="4488"/>
              </a:lnSpc>
            </a:pPr>
            <a:r>
              <a:rPr lang="en-US" sz="3740">
                <a:solidFill>
                  <a:srgbClr val="31404B"/>
                </a:solidFill>
                <a:latin typeface="Open Sans"/>
                <a:ea typeface="Open Sans"/>
                <a:cs typeface="Open Sans"/>
                <a:sym typeface="Open Sans"/>
              </a:rPr>
              <a:t>Step 2: sort in descending order </a:t>
            </a:r>
          </a:p>
          <a:p>
            <a:pPr algn="l">
              <a:lnSpc>
                <a:spcPts val="4488"/>
              </a:lnSpc>
            </a:pPr>
            <a:r>
              <a:rPr lang="en-US" sz="3740">
                <a:solidFill>
                  <a:srgbClr val="31404B"/>
                </a:solidFill>
                <a:latin typeface="Open Sans"/>
                <a:ea typeface="Open Sans"/>
                <a:cs typeface="Open Sans"/>
                <a:sym typeface="Open Sans"/>
              </a:rPr>
              <a:t>Step 3: select top 10                     </a:t>
            </a:r>
          </a:p>
          <a:p>
            <a:pPr algn="l">
              <a:lnSpc>
                <a:spcPts val="4488"/>
              </a:lnSpc>
            </a:pPr>
            <a:r>
              <a:rPr lang="en-US" b="true" sz="3740">
                <a:solidFill>
                  <a:srgbClr val="31404B"/>
                </a:solidFill>
                <a:latin typeface="Roboto Bold"/>
                <a:ea typeface="Roboto Bold"/>
                <a:cs typeface="Roboto Bold"/>
                <a:sym typeface="Roboto Bold"/>
              </a:rPr>
              <a:t>             </a:t>
            </a:r>
          </a:p>
          <a:p>
            <a:pPr algn="l">
              <a:lnSpc>
                <a:spcPts val="4488"/>
              </a:lnSpc>
            </a:pPr>
            <a:r>
              <a:rPr lang="en-US" b="true" sz="3740">
                <a:solidFill>
                  <a:srgbClr val="31404B"/>
                </a:solidFill>
                <a:latin typeface="Roboto Bold"/>
                <a:ea typeface="Roboto Bold"/>
                <a:cs typeface="Roboto Bold"/>
                <a:sym typeface="Roboto Bold"/>
              </a:rPr>
              <a:t>             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463040"/>
            <a:chOff x="0" y="0"/>
            <a:chExt cx="24384000" cy="19507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950720"/>
            </a:xfrm>
            <a:custGeom>
              <a:avLst/>
              <a:gdLst/>
              <a:ahLst/>
              <a:cxnLst/>
              <a:rect r="r" b="b" t="t" l="l"/>
              <a:pathLst>
                <a:path h="195072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950720"/>
                  </a:lnTo>
                  <a:lnTo>
                    <a:pt x="0" y="1950720"/>
                  </a:lnTo>
                  <a:close/>
                </a:path>
              </a:pathLst>
            </a:custGeom>
            <a:solidFill>
              <a:srgbClr val="31404B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274320"/>
            <a:ext cx="16459200" cy="1237456"/>
            <a:chOff x="0" y="0"/>
            <a:chExt cx="21945600" cy="164994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1649942"/>
            </a:xfrm>
            <a:custGeom>
              <a:avLst/>
              <a:gdLst/>
              <a:ahLst/>
              <a:cxnLst/>
              <a:rect r="r" b="b" t="t" l="l"/>
              <a:pathLst>
                <a:path h="1649942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649942"/>
                  </a:lnTo>
                  <a:lnTo>
                    <a:pt x="0" y="164994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2220" r="0" b="-196114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9525"/>
              <a:ext cx="21945600" cy="165946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680"/>
                </a:lnSpc>
              </a:pPr>
              <a:r>
                <a:rPr lang="en-US" b="true" sz="6400">
                  <a:solidFill>
                    <a:srgbClr val="FFFFFF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HELPFULNESS SCORE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661892" y="2185035"/>
            <a:ext cx="17182328" cy="6048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b="true" sz="4800">
                <a:solidFill>
                  <a:srgbClr val="31404B"/>
                </a:solidFill>
                <a:latin typeface="Roboto Bold"/>
                <a:ea typeface="Roboto Bold"/>
                <a:cs typeface="Roboto Bold"/>
                <a:sym typeface="Roboto Bold"/>
              </a:rPr>
              <a:t>Solution</a:t>
            </a:r>
          </a:p>
          <a:p>
            <a:pPr algn="l">
              <a:lnSpc>
                <a:spcPts val="5759"/>
              </a:lnSpc>
            </a:pPr>
            <a:r>
              <a:rPr lang="en-US" sz="4800">
                <a:solidFill>
                  <a:srgbClr val="31404B"/>
                </a:solidFill>
                <a:latin typeface="Open Sans"/>
                <a:ea typeface="Open Sans"/>
                <a:cs typeface="Open Sans"/>
                <a:sym typeface="Open Sans"/>
              </a:rPr>
              <a:t>Classify votes as helpful/unhelpful Compute ratio</a:t>
            </a:r>
          </a:p>
          <a:p>
            <a:pPr algn="l">
              <a:lnSpc>
                <a:spcPts val="5759"/>
              </a:lnSpc>
            </a:pPr>
          </a:p>
          <a:p>
            <a:pPr algn="l">
              <a:lnSpc>
                <a:spcPts val="5759"/>
              </a:lnSpc>
            </a:pPr>
            <a:r>
              <a:rPr lang="en-US" b="true" sz="4800">
                <a:solidFill>
                  <a:srgbClr val="31404B"/>
                </a:solidFill>
                <a:latin typeface="Roboto Bold"/>
                <a:ea typeface="Roboto Bold"/>
                <a:cs typeface="Roboto Bold"/>
                <a:sym typeface="Roboto Bold"/>
              </a:rPr>
              <a:t>Insight</a:t>
            </a:r>
          </a:p>
          <a:p>
            <a:pPr algn="l">
              <a:lnSpc>
                <a:spcPts val="5759"/>
              </a:lnSpc>
            </a:pPr>
            <a:r>
              <a:rPr lang="en-US" sz="4800">
                <a:solidFill>
                  <a:srgbClr val="31404B"/>
                </a:solidFill>
                <a:latin typeface="Open Sans"/>
                <a:ea typeface="Open Sans"/>
                <a:cs typeface="Open Sans"/>
                <a:sym typeface="Open Sans"/>
              </a:rPr>
              <a:t>Only ~42.6% of reviews are considered helpful </a:t>
            </a:r>
          </a:p>
          <a:p>
            <a:pPr algn="l">
              <a:lnSpc>
                <a:spcPts val="5759"/>
              </a:lnSpc>
            </a:pPr>
            <a:r>
              <a:rPr lang="en-US" sz="4800">
                <a:solidFill>
                  <a:srgbClr val="31404B"/>
                </a:solidFill>
                <a:latin typeface="Open Sans"/>
                <a:ea typeface="Open Sans"/>
                <a:cs typeface="Open Sans"/>
                <a:sym typeface="Open Sans"/>
              </a:rPr>
              <a:t>Indicates low review validation</a:t>
            </a:r>
          </a:p>
          <a:p>
            <a:pPr algn="l">
              <a:lnSpc>
                <a:spcPts val="6720"/>
              </a:lnSpc>
            </a:pPr>
            <a:r>
              <a:rPr lang="en-US" b="true" sz="5600">
                <a:solidFill>
                  <a:srgbClr val="31404B"/>
                </a:solidFill>
                <a:latin typeface="Roboto Bold"/>
                <a:ea typeface="Roboto Bold"/>
                <a:cs typeface="Roboto Bold"/>
                <a:sym typeface="Roboto Bold"/>
              </a:rPr>
              <a:t>             </a:t>
            </a:r>
          </a:p>
          <a:p>
            <a:pPr algn="l">
              <a:lnSpc>
                <a:spcPts val="6720"/>
              </a:lnSpc>
            </a:pPr>
            <a:r>
              <a:rPr lang="en-US" b="true" sz="5600">
                <a:solidFill>
                  <a:srgbClr val="31404B"/>
                </a:solidFill>
                <a:latin typeface="Roboto Bold"/>
                <a:ea typeface="Roboto Bold"/>
                <a:cs typeface="Roboto Bold"/>
                <a:sym typeface="Roboto Bold"/>
              </a:rPr>
              <a:t>        Result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5629377" y="7031977"/>
            <a:ext cx="7876213" cy="2837745"/>
            <a:chOff x="0" y="0"/>
            <a:chExt cx="10501617" cy="378366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501630" cy="3783711"/>
            </a:xfrm>
            <a:custGeom>
              <a:avLst/>
              <a:gdLst/>
              <a:ahLst/>
              <a:cxnLst/>
              <a:rect r="r" b="b" t="t" l="l"/>
              <a:pathLst>
                <a:path h="3783711" w="10501630">
                  <a:moveTo>
                    <a:pt x="0" y="0"/>
                  </a:moveTo>
                  <a:lnTo>
                    <a:pt x="10501630" y="0"/>
                  </a:lnTo>
                  <a:lnTo>
                    <a:pt x="10501630" y="3783711"/>
                  </a:lnTo>
                  <a:lnTo>
                    <a:pt x="0" y="37837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37821" t="0" r="-37821" b="1"/>
              </a:stretch>
            </a:blipFill>
          </p:spPr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463040"/>
            <a:chOff x="0" y="0"/>
            <a:chExt cx="24384000" cy="19507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950720"/>
            </a:xfrm>
            <a:custGeom>
              <a:avLst/>
              <a:gdLst/>
              <a:ahLst/>
              <a:cxnLst/>
              <a:rect r="r" b="b" t="t" l="l"/>
              <a:pathLst>
                <a:path h="195072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950720"/>
                  </a:lnTo>
                  <a:lnTo>
                    <a:pt x="0" y="1950720"/>
                  </a:lnTo>
                  <a:close/>
                </a:path>
              </a:pathLst>
            </a:custGeom>
            <a:solidFill>
              <a:srgbClr val="31404B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274320"/>
            <a:ext cx="16459200" cy="1237456"/>
            <a:chOff x="0" y="0"/>
            <a:chExt cx="21945600" cy="164994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1649942"/>
            </a:xfrm>
            <a:custGeom>
              <a:avLst/>
              <a:gdLst/>
              <a:ahLst/>
              <a:cxnLst/>
              <a:rect r="r" b="b" t="t" l="l"/>
              <a:pathLst>
                <a:path h="1649942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649942"/>
                  </a:lnTo>
                  <a:lnTo>
                    <a:pt x="0" y="164994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2220" r="0" b="-196114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9525"/>
              <a:ext cx="21945600" cy="165946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680"/>
                </a:lnSpc>
              </a:pPr>
              <a:r>
                <a:rPr lang="en-US" b="true" sz="6400">
                  <a:solidFill>
                    <a:srgbClr val="FFFFFF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SENTIMENT ANALYSIS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948817" y="6162774"/>
            <a:ext cx="6383962" cy="2133124"/>
            <a:chOff x="0" y="0"/>
            <a:chExt cx="10986554" cy="367102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986516" cy="3671062"/>
            </a:xfrm>
            <a:custGeom>
              <a:avLst/>
              <a:gdLst/>
              <a:ahLst/>
              <a:cxnLst/>
              <a:rect r="r" b="b" t="t" l="l"/>
              <a:pathLst>
                <a:path h="3671062" w="10986516">
                  <a:moveTo>
                    <a:pt x="0" y="0"/>
                  </a:moveTo>
                  <a:lnTo>
                    <a:pt x="10986516" y="0"/>
                  </a:lnTo>
                  <a:lnTo>
                    <a:pt x="10986516" y="3671062"/>
                  </a:lnTo>
                  <a:lnTo>
                    <a:pt x="0" y="36710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24832" t="0" r="-24833" b="1"/>
              </a:stretch>
            </a:blipFill>
          </p:spPr>
        </p:sp>
      </p:grpSp>
      <p:sp>
        <p:nvSpPr>
          <p:cNvPr name="Freeform 9" id="9"/>
          <p:cNvSpPr/>
          <p:nvPr/>
        </p:nvSpPr>
        <p:spPr>
          <a:xfrm flipH="false" flipV="false" rot="0">
            <a:off x="9512359" y="1882239"/>
            <a:ext cx="8775641" cy="8775641"/>
          </a:xfrm>
          <a:custGeom>
            <a:avLst/>
            <a:gdLst/>
            <a:ahLst/>
            <a:cxnLst/>
            <a:rect r="r" b="b" t="t" l="l"/>
            <a:pathLst>
              <a:path h="8775641" w="8775641">
                <a:moveTo>
                  <a:pt x="0" y="0"/>
                </a:moveTo>
                <a:lnTo>
                  <a:pt x="8775641" y="0"/>
                </a:lnTo>
                <a:lnTo>
                  <a:pt x="8775641" y="8775642"/>
                </a:lnTo>
                <a:lnTo>
                  <a:pt x="0" y="877564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028700" y="1872714"/>
            <a:ext cx="10630952" cy="38709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60"/>
              </a:lnSpc>
            </a:pPr>
            <a:r>
              <a:rPr lang="en-US" b="true" sz="3133">
                <a:solidFill>
                  <a:srgbClr val="31404B"/>
                </a:solidFill>
                <a:latin typeface="Roboto Bold"/>
                <a:ea typeface="Roboto Bold"/>
                <a:cs typeface="Roboto Bold"/>
                <a:sym typeface="Roboto Bold"/>
              </a:rPr>
              <a:t>Solution</a:t>
            </a:r>
          </a:p>
          <a:p>
            <a:pPr algn="l" marL="756120" indent="-378060" lvl="1">
              <a:lnSpc>
                <a:spcPts val="3760"/>
              </a:lnSpc>
              <a:buFont typeface="Arial"/>
              <a:buChar char="•"/>
            </a:pPr>
            <a:r>
              <a:rPr lang="en-US" sz="3133">
                <a:solidFill>
                  <a:srgbClr val="31404B"/>
                </a:solidFill>
                <a:latin typeface="Open Sans"/>
                <a:ea typeface="Open Sans"/>
                <a:cs typeface="Open Sans"/>
                <a:sym typeface="Open Sans"/>
              </a:rPr>
              <a:t>Use VADER sentiment analysis Classify as positive, neutral, negative</a:t>
            </a:r>
          </a:p>
          <a:p>
            <a:pPr algn="l" marL="756120" indent="-378060" lvl="1">
              <a:lnSpc>
                <a:spcPts val="3760"/>
              </a:lnSpc>
            </a:pPr>
          </a:p>
          <a:p>
            <a:pPr algn="l" marL="756120" indent="-378060" lvl="1">
              <a:lnSpc>
                <a:spcPts val="3760"/>
              </a:lnSpc>
            </a:pPr>
            <a:r>
              <a:rPr lang="en-US" b="true" sz="3133">
                <a:solidFill>
                  <a:srgbClr val="31404B"/>
                </a:solidFill>
                <a:latin typeface="Roboto Bold"/>
                <a:ea typeface="Roboto Bold"/>
                <a:cs typeface="Roboto Bold"/>
                <a:sym typeface="Roboto Bold"/>
              </a:rPr>
              <a:t>Insight</a:t>
            </a:r>
          </a:p>
          <a:p>
            <a:pPr algn="l" marL="756120" indent="-378060" lvl="1">
              <a:lnSpc>
                <a:spcPts val="3760"/>
              </a:lnSpc>
              <a:buFont typeface="Arial"/>
              <a:buChar char="•"/>
            </a:pPr>
            <a:r>
              <a:rPr lang="en-US" sz="3133">
                <a:solidFill>
                  <a:srgbClr val="31404B"/>
                </a:solidFill>
                <a:latin typeface="Open Sans"/>
                <a:ea typeface="Open Sans"/>
                <a:cs typeface="Open Sans"/>
                <a:sym typeface="Open Sans"/>
              </a:rPr>
              <a:t>Majority of reviews are positive </a:t>
            </a:r>
          </a:p>
          <a:p>
            <a:pPr algn="l" marL="756120" indent="-378060" lvl="1">
              <a:lnSpc>
                <a:spcPts val="3760"/>
              </a:lnSpc>
              <a:buFont typeface="Arial"/>
              <a:buChar char="•"/>
            </a:pPr>
            <a:r>
              <a:rPr lang="en-US" sz="3133">
                <a:solidFill>
                  <a:srgbClr val="31404B"/>
                </a:solidFill>
                <a:latin typeface="Open Sans"/>
                <a:ea typeface="Open Sans"/>
                <a:cs typeface="Open Sans"/>
                <a:sym typeface="Open Sans"/>
              </a:rPr>
              <a:t>Strong customer satisfaction overall</a:t>
            </a:r>
          </a:p>
          <a:p>
            <a:pPr algn="l" marL="882140" indent="-441070" lvl="1">
              <a:lnSpc>
                <a:spcPts val="4386"/>
              </a:lnSpc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140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463040"/>
            <a:chOff x="0" y="0"/>
            <a:chExt cx="24384000" cy="19507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950720"/>
            </a:xfrm>
            <a:custGeom>
              <a:avLst/>
              <a:gdLst/>
              <a:ahLst/>
              <a:cxnLst/>
              <a:rect r="r" b="b" t="t" l="l"/>
              <a:pathLst>
                <a:path h="195072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950720"/>
                  </a:lnTo>
                  <a:lnTo>
                    <a:pt x="0" y="195072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274320"/>
            <a:ext cx="16459200" cy="1237456"/>
            <a:chOff x="0" y="0"/>
            <a:chExt cx="21945600" cy="164994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1649942"/>
            </a:xfrm>
            <a:custGeom>
              <a:avLst/>
              <a:gdLst/>
              <a:ahLst/>
              <a:cxnLst/>
              <a:rect r="r" b="b" t="t" l="l"/>
              <a:pathLst>
                <a:path h="1649942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649942"/>
                  </a:lnTo>
                  <a:lnTo>
                    <a:pt x="0" y="164994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2220" r="0" b="-196114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9525"/>
              <a:ext cx="21945600" cy="165946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680"/>
                </a:lnSpc>
              </a:pPr>
              <a:r>
                <a:rPr lang="en-US" b="true" sz="6400">
                  <a:solidFill>
                    <a:srgbClr val="31404B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CONCLUSION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745779" y="2221230"/>
            <a:ext cx="16284712" cy="6800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20"/>
              </a:lnSpc>
            </a:pPr>
            <a:r>
              <a:rPr lang="en-US" b="true" sz="5600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Implemented 5 MapReduce jobs using mrjob</a:t>
            </a:r>
          </a:p>
          <a:p>
            <a:pPr algn="l">
              <a:lnSpc>
                <a:spcPts val="6720"/>
              </a:lnSpc>
            </a:pPr>
            <a:r>
              <a:rPr lang="en-US" b="true" sz="5600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Processed Amazon Reviews dataset successfully</a:t>
            </a:r>
          </a:p>
          <a:p>
            <a:pPr algn="l">
              <a:lnSpc>
                <a:spcPts val="6720"/>
              </a:lnSpc>
            </a:pPr>
          </a:p>
          <a:p>
            <a:pPr algn="l">
              <a:lnSpc>
                <a:spcPts val="6720"/>
              </a:lnSpc>
            </a:pPr>
            <a:r>
              <a:rPr lang="en-US" b="true" sz="5600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Extracted key insights:</a:t>
            </a:r>
          </a:p>
          <a:p>
            <a:pPr algn="l" marL="1351281" indent="-675640" lvl="1">
              <a:lnSpc>
                <a:spcPts val="6720"/>
              </a:lnSpc>
              <a:buFont typeface="Arial"/>
              <a:buChar char="•"/>
            </a:pPr>
            <a:r>
              <a:rPr lang="en-US" b="true" sz="5600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Product popularity</a:t>
            </a:r>
          </a:p>
          <a:p>
            <a:pPr algn="l" marL="1351281" indent="-675640" lvl="1">
              <a:lnSpc>
                <a:spcPts val="6720"/>
              </a:lnSpc>
              <a:buFont typeface="Arial"/>
              <a:buChar char="•"/>
            </a:pPr>
            <a:r>
              <a:rPr lang="en-US" b="true" sz="5600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Customer ratings</a:t>
            </a:r>
          </a:p>
          <a:p>
            <a:pPr algn="l" marL="1351281" indent="-675640" lvl="1">
              <a:lnSpc>
                <a:spcPts val="6720"/>
              </a:lnSpc>
              <a:buFont typeface="Arial"/>
              <a:buChar char="•"/>
            </a:pPr>
            <a:r>
              <a:rPr lang="en-US" b="true" sz="5600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Review usefulness</a:t>
            </a:r>
          </a:p>
          <a:p>
            <a:pPr algn="l" marL="1351281" indent="-675640" lvl="1">
              <a:lnSpc>
                <a:spcPts val="6720"/>
              </a:lnSpc>
              <a:buFont typeface="Arial"/>
              <a:buChar char="•"/>
            </a:pPr>
            <a:r>
              <a:rPr lang="en-US" b="true" sz="5600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Sentiment trends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DAHLsgjUWCU</dc:identifier>
  <dcterms:modified xsi:type="dcterms:W3CDTF">2011-08-01T06:04:30Z</dcterms:modified>
  <cp:revision>1</cp:revision>
  <dc:title>DM_Project_Presentation.pptx</dc:title>
</cp:coreProperties>
</file>